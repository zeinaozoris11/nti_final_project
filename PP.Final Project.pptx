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2"/>
    <p:sldId id="268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9" r:id="rId11"/>
  </p:sldIdLst>
  <p:sldSz cx="18288000" cy="10287000"/>
  <p:notesSz cx="6858000" cy="9144000"/>
  <p:embeddedFontLst>
    <p:embeddedFont>
      <p:font typeface="Palace Script MT" panose="030303020206070C0B05" pitchFamily="66" charset="0"/>
      <p:italic r:id="rId12"/>
    </p:embeddedFont>
    <p:embeddedFont>
      <p:font typeface="Roboto" panose="02000000000000000000" pitchFamily="2" charset="0"/>
      <p:regular r:id="rId13"/>
    </p:embeddedFont>
    <p:embeddedFont>
      <p:font typeface="Roboto Bold" panose="02000000000000000000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83.png"/><Relationship Id="rId3" Type="http://schemas.openxmlformats.org/officeDocument/2006/relationships/image" Target="../media/image11.png"/><Relationship Id="rId7" Type="http://schemas.openxmlformats.org/officeDocument/2006/relationships/image" Target="../media/image79.png"/><Relationship Id="rId12" Type="http://schemas.openxmlformats.org/officeDocument/2006/relationships/image" Target="../media/image82.png"/><Relationship Id="rId2" Type="http://schemas.openxmlformats.org/officeDocument/2006/relationships/image" Target="../media/image10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1.png"/><Relationship Id="rId5" Type="http://schemas.openxmlformats.org/officeDocument/2006/relationships/image" Target="../media/image13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14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jpeg"/><Relationship Id="rId3" Type="http://schemas.openxmlformats.org/officeDocument/2006/relationships/image" Target="../media/image90.png"/><Relationship Id="rId21" Type="http://schemas.openxmlformats.org/officeDocument/2006/relationships/image" Target="../media/image108.jpe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jpe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jpe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0239375" cy="10287000"/>
          </a:xfrm>
          <a:custGeom>
            <a:avLst/>
            <a:gdLst/>
            <a:ahLst/>
            <a:cxnLst/>
            <a:rect l="l" t="t" r="r" b="b"/>
            <a:pathLst>
              <a:path w="10239375" h="10287000">
                <a:moveTo>
                  <a:pt x="0" y="0"/>
                </a:moveTo>
                <a:lnTo>
                  <a:pt x="10239375" y="0"/>
                </a:lnTo>
                <a:lnTo>
                  <a:pt x="10239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2192000" y="2143125"/>
            <a:ext cx="6096000" cy="6000750"/>
          </a:xfrm>
          <a:custGeom>
            <a:avLst/>
            <a:gdLst/>
            <a:ahLst/>
            <a:cxnLst/>
            <a:rect l="l" t="t" r="r" b="b"/>
            <a:pathLst>
              <a:path w="6096000" h="6000750">
                <a:moveTo>
                  <a:pt x="0" y="0"/>
                </a:moveTo>
                <a:lnTo>
                  <a:pt x="6096000" y="0"/>
                </a:lnTo>
                <a:lnTo>
                  <a:pt x="6096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44000" y="5781675"/>
            <a:ext cx="3486150" cy="2362200"/>
          </a:xfrm>
          <a:custGeom>
            <a:avLst/>
            <a:gdLst/>
            <a:ahLst/>
            <a:cxnLst/>
            <a:rect l="l" t="t" r="r" b="b"/>
            <a:pathLst>
              <a:path w="3486150" h="236220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401550" y="7286625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7C9C460D-7B1A-F454-36F6-E52DD93253E0}"/>
              </a:ext>
            </a:extLst>
          </p:cNvPr>
          <p:cNvSpPr/>
          <p:nvPr/>
        </p:nvSpPr>
        <p:spPr>
          <a:xfrm>
            <a:off x="647700" y="10668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313F425D-5A81-6040-F05C-EC6E86E9E8C1}"/>
              </a:ext>
            </a:extLst>
          </p:cNvPr>
          <p:cNvSpPr txBox="1"/>
          <p:nvPr/>
        </p:nvSpPr>
        <p:spPr>
          <a:xfrm>
            <a:off x="768096" y="5428950"/>
            <a:ext cx="3712464" cy="59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From Raw Data to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2EFA279-20B7-126C-FD03-A6D1E653FA5D}"/>
              </a:ext>
            </a:extLst>
          </p:cNvPr>
          <p:cNvSpPr txBox="1"/>
          <p:nvPr/>
        </p:nvSpPr>
        <p:spPr>
          <a:xfrm>
            <a:off x="768096" y="5863044"/>
            <a:ext cx="6089904" cy="94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8"/>
              </a:lnSpc>
            </a:pPr>
            <a:r>
              <a:rPr lang="en-US" sz="5491" b="1">
                <a:solidFill>
                  <a:srgbClr val="E6B86F"/>
                </a:solidFill>
                <a:latin typeface="Roboto Bold"/>
                <a:ea typeface="Roboto Bold"/>
                <a:cs typeface="Roboto Bold"/>
                <a:sym typeface="Roboto Bold"/>
              </a:rPr>
              <a:t>Customer Insights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0D9F93BE-7C47-6E4D-4ED8-6E46482FBB01}"/>
              </a:ext>
            </a:extLst>
          </p:cNvPr>
          <p:cNvSpPr txBox="1"/>
          <p:nvPr/>
        </p:nvSpPr>
        <p:spPr>
          <a:xfrm>
            <a:off x="768096" y="6940223"/>
            <a:ext cx="7095744" cy="130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end-to-end project covering data cleaning, feature engineering, RFM customer segmentation, and an interactive Power BI dashboard.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E666C5BF-9F5B-DC0F-2FE7-CE63183C244E}"/>
              </a:ext>
            </a:extLst>
          </p:cNvPr>
          <p:cNvSpPr txBox="1"/>
          <p:nvPr/>
        </p:nvSpPr>
        <p:spPr>
          <a:xfrm>
            <a:off x="768096" y="8670223"/>
            <a:ext cx="2395728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(Pandas)</a:t>
            </a:r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FD781F1C-E94C-8450-41AA-CFAD8AB3C150}"/>
              </a:ext>
            </a:extLst>
          </p:cNvPr>
          <p:cNvSpPr/>
          <p:nvPr/>
        </p:nvSpPr>
        <p:spPr>
          <a:xfrm>
            <a:off x="3257550" y="8782050"/>
            <a:ext cx="228600" cy="219075"/>
          </a:xfrm>
          <a:custGeom>
            <a:avLst/>
            <a:gdLst/>
            <a:ahLst/>
            <a:cxnLst/>
            <a:rect l="l" t="t" r="r" b="b"/>
            <a:pathLst>
              <a:path w="228600" h="219075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62F439B0-8E02-0FEA-3AEB-AF1CB7BEEE61}"/>
              </a:ext>
            </a:extLst>
          </p:cNvPr>
          <p:cNvSpPr txBox="1"/>
          <p:nvPr/>
        </p:nvSpPr>
        <p:spPr>
          <a:xfrm>
            <a:off x="3694176" y="8666361"/>
            <a:ext cx="1353312" cy="4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Power BI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7A390BAE-0813-20ED-1F69-E2111035E66C}"/>
              </a:ext>
            </a:extLst>
          </p:cNvPr>
          <p:cNvSpPr txBox="1"/>
          <p:nvPr/>
        </p:nvSpPr>
        <p:spPr>
          <a:xfrm>
            <a:off x="731520" y="1613683"/>
            <a:ext cx="7022592" cy="359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8"/>
              </a:lnSpc>
            </a:pPr>
            <a:r>
              <a:rPr lang="en-US" sz="10242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HOTEL BOOKING </a:t>
            </a:r>
            <a:r>
              <a:rPr lang="en-US" sz="10242" b="1" dirty="0">
                <a:solidFill>
                  <a:srgbClr val="37A9C2"/>
                </a:solidFill>
                <a:latin typeface="Roboto Bold"/>
                <a:ea typeface="Roboto Bold"/>
                <a:cs typeface="Roboto Bold"/>
                <a:sym typeface="Roboto Bold"/>
              </a:rPr>
              <a:t>ANALYTICS</a:t>
            </a:r>
          </a:p>
        </p:txBody>
      </p:sp>
      <p:sp>
        <p:nvSpPr>
          <p:cNvPr id="36" name="Freeform 4">
            <a:extLst>
              <a:ext uri="{FF2B5EF4-FFF2-40B4-BE49-F238E27FC236}">
                <a16:creationId xmlns:a16="http://schemas.microsoft.com/office/drawing/2014/main" id="{E4E9C025-359C-3AAA-BDB9-389F84430AD0}"/>
              </a:ext>
            </a:extLst>
          </p:cNvPr>
          <p:cNvSpPr/>
          <p:nvPr/>
        </p:nvSpPr>
        <p:spPr>
          <a:xfrm>
            <a:off x="647700" y="5143500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CAA6465-4110-35B3-9BD2-4B2D4DB3B16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7624" y="-65268"/>
            <a:ext cx="3429000" cy="200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4387-99AC-34B1-3A97-9D4B1880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5D0C3C-14B3-BBCA-B9B0-5447F9CDABB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4B7AFC-5832-18F3-03A7-A9837F7877BF}"/>
              </a:ext>
            </a:extLst>
          </p:cNvPr>
          <p:cNvSpPr/>
          <p:nvPr/>
        </p:nvSpPr>
        <p:spPr>
          <a:xfrm>
            <a:off x="647700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0573212-6AAF-6574-ECFD-54922EFDD69C}"/>
              </a:ext>
            </a:extLst>
          </p:cNvPr>
          <p:cNvSpPr txBox="1"/>
          <p:nvPr/>
        </p:nvSpPr>
        <p:spPr>
          <a:xfrm>
            <a:off x="658368" y="1333500"/>
            <a:ext cx="12527280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725" b="1" spc="-154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Members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53CC49-B5A3-8945-9050-C7EEC329D65F}"/>
              </a:ext>
            </a:extLst>
          </p:cNvPr>
          <p:cNvSpPr/>
          <p:nvPr/>
        </p:nvSpPr>
        <p:spPr>
          <a:xfrm>
            <a:off x="647700" y="2400300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9B39227-DEAF-D224-3334-7389EBA92F48}"/>
              </a:ext>
            </a:extLst>
          </p:cNvPr>
          <p:cNvSpPr/>
          <p:nvPr/>
        </p:nvSpPr>
        <p:spPr>
          <a:xfrm>
            <a:off x="457200" y="3119439"/>
            <a:ext cx="10586102" cy="4386261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3A8EA49-4325-52C4-1474-680F7FBF92E9}"/>
              </a:ext>
            </a:extLst>
          </p:cNvPr>
          <p:cNvSpPr/>
          <p:nvPr/>
        </p:nvSpPr>
        <p:spPr>
          <a:xfrm>
            <a:off x="647700" y="7439025"/>
            <a:ext cx="4152900" cy="219075"/>
          </a:xfrm>
          <a:custGeom>
            <a:avLst/>
            <a:gdLst/>
            <a:ahLst/>
            <a:cxnLst/>
            <a:rect l="l" t="t" r="r" b="b"/>
            <a:pathLst>
              <a:path w="4152900" h="219075">
                <a:moveTo>
                  <a:pt x="0" y="0"/>
                </a:moveTo>
                <a:lnTo>
                  <a:pt x="4152900" y="0"/>
                </a:lnTo>
                <a:lnTo>
                  <a:pt x="4152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3A0D33C-E111-072A-B6BE-3C1725C84A55}"/>
              </a:ext>
            </a:extLst>
          </p:cNvPr>
          <p:cNvSpPr/>
          <p:nvPr/>
        </p:nvSpPr>
        <p:spPr>
          <a:xfrm>
            <a:off x="7038975" y="3171825"/>
            <a:ext cx="3933825" cy="219075"/>
          </a:xfrm>
          <a:custGeom>
            <a:avLst/>
            <a:gdLst/>
            <a:ahLst/>
            <a:cxnLst/>
            <a:rect l="l" t="t" r="r" b="b"/>
            <a:pathLst>
              <a:path w="3933825" h="21907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E2503F0-8ED9-86B4-5D0A-3C1129A61641}"/>
              </a:ext>
            </a:extLst>
          </p:cNvPr>
          <p:cNvSpPr txBox="1"/>
          <p:nvPr/>
        </p:nvSpPr>
        <p:spPr>
          <a:xfrm>
            <a:off x="11430000" y="8643938"/>
            <a:ext cx="16093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 dirty="0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PREMIUM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A3B894-6F28-DF53-58DC-68FD53FDD687}"/>
              </a:ext>
            </a:extLst>
          </p:cNvPr>
          <p:cNvSpPr txBox="1"/>
          <p:nvPr/>
        </p:nvSpPr>
        <p:spPr>
          <a:xfrm>
            <a:off x="984902" y="3543300"/>
            <a:ext cx="7696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Nourhan Taha Mohamed Mostafa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Doaa Gamal Mohamed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Malak Mohamed Saeed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Zeina Mohammed </a:t>
            </a:r>
            <a:r>
              <a:rPr lang="en-US" sz="3600" dirty="0" err="1">
                <a:solidFill>
                  <a:schemeClr val="bg1"/>
                </a:solidFill>
              </a:rPr>
              <a:t>Ozoris</a:t>
            </a:r>
            <a:endParaRPr lang="en-US" sz="36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Beshoy Hanna Zakaria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Sohaib Wael Barakat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52" name="Google Shape;603;p36">
            <a:extLst>
              <a:ext uri="{FF2B5EF4-FFF2-40B4-BE49-F238E27FC236}">
                <a16:creationId xmlns:a16="http://schemas.microsoft.com/office/drawing/2014/main" id="{80BA3940-7997-2D24-733F-BE0E21329CC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>
            <a:alphaModFix/>
          </a:blip>
          <a:srcRect l="23476" r="23471"/>
          <a:stretch/>
        </p:blipFill>
        <p:spPr>
          <a:xfrm>
            <a:off x="11277600" y="0"/>
            <a:ext cx="7010400" cy="10287000"/>
          </a:xfrm>
          <a:prstGeom prst="round1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12999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6753225" cy="9858375"/>
          </a:xfrm>
          <a:custGeom>
            <a:avLst/>
            <a:gdLst/>
            <a:ahLst/>
            <a:cxnLst/>
            <a:rect l="l" t="t" r="r" b="b"/>
            <a:pathLst>
              <a:path w="6753225" h="9858375">
                <a:moveTo>
                  <a:pt x="0" y="0"/>
                </a:moveTo>
                <a:lnTo>
                  <a:pt x="6753225" y="0"/>
                </a:lnTo>
                <a:lnTo>
                  <a:pt x="6753225" y="9858375"/>
                </a:lnTo>
                <a:lnTo>
                  <a:pt x="0" y="985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639300"/>
            <a:ext cx="5010150" cy="647700"/>
          </a:xfrm>
          <a:custGeom>
            <a:avLst/>
            <a:gdLst/>
            <a:ahLst/>
            <a:cxnLst/>
            <a:rect l="l" t="t" r="r" b="b"/>
            <a:pathLst>
              <a:path w="5010150" h="647700">
                <a:moveTo>
                  <a:pt x="0" y="0"/>
                </a:moveTo>
                <a:lnTo>
                  <a:pt x="5010150" y="0"/>
                </a:lnTo>
                <a:lnTo>
                  <a:pt x="5010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572000" y="9639300"/>
            <a:ext cx="13716000" cy="219075"/>
          </a:xfrm>
          <a:custGeom>
            <a:avLst/>
            <a:gdLst/>
            <a:ahLst/>
            <a:cxnLst/>
            <a:rect l="l" t="t" r="r" b="b"/>
            <a:pathLst>
              <a:path w="13716000" h="219075">
                <a:moveTo>
                  <a:pt x="0" y="0"/>
                </a:moveTo>
                <a:lnTo>
                  <a:pt x="13716000" y="0"/>
                </a:lnTo>
                <a:lnTo>
                  <a:pt x="13716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28625" y="857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3504" y="1402666"/>
            <a:ext cx="4059936" cy="207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 spc="-2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Project Overview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428625" y="3638550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03504" y="4186560"/>
            <a:ext cx="4425696" cy="173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analyze a large hotel booking dataset to uncover booking patterns, validate data quality, and segment customers by value.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504" y="6452595"/>
            <a:ext cx="4261104" cy="93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workflow moves from raw transactional data all the way to a decision-ready Power BI dashboard.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63056" y="5019263"/>
            <a:ext cx="3529584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 spc="-71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ANALYTICAL WORKFLOW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37376" y="5716980"/>
            <a:ext cx="512064" cy="49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</a:pPr>
            <a:r>
              <a:rPr lang="en-US" sz="3684" b="1" spc="-110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78240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92256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24560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75152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57850" y="6210300"/>
            <a:ext cx="2181225" cy="2581275"/>
          </a:xfrm>
          <a:custGeom>
            <a:avLst/>
            <a:gdLst/>
            <a:ahLst/>
            <a:cxnLst/>
            <a:rect l="l" t="t" r="r" b="b"/>
            <a:pathLst>
              <a:path w="2181225" h="2581275">
                <a:moveTo>
                  <a:pt x="0" y="0"/>
                </a:moveTo>
                <a:lnTo>
                  <a:pt x="2181225" y="0"/>
                </a:lnTo>
                <a:lnTo>
                  <a:pt x="21812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437376" y="6912071"/>
            <a:ext cx="603504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08192" y="7386256"/>
            <a:ext cx="129844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 structure &amp; quality</a:t>
            </a:r>
          </a:p>
        </p:txBody>
      </p:sp>
      <p:sp>
        <p:nvSpPr>
          <p:cNvPr id="20" name="Freeform 20"/>
          <p:cNvSpPr/>
          <p:nvPr/>
        </p:nvSpPr>
        <p:spPr>
          <a:xfrm>
            <a:off x="7400925" y="7286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7829550" y="6210300"/>
            <a:ext cx="2628900" cy="2581275"/>
          </a:xfrm>
          <a:custGeom>
            <a:avLst/>
            <a:gdLst/>
            <a:ahLst/>
            <a:cxnLst/>
            <a:rect l="l" t="t" r="r" b="b"/>
            <a:pathLst>
              <a:path w="2628900" h="2581275">
                <a:moveTo>
                  <a:pt x="0" y="0"/>
                </a:moveTo>
                <a:lnTo>
                  <a:pt x="2628900" y="0"/>
                </a:lnTo>
                <a:lnTo>
                  <a:pt x="26289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522208" y="6912071"/>
            <a:ext cx="117043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Cleaning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67344" y="7386256"/>
            <a:ext cx="126187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Duplicates, </a:t>
            </a:r>
          </a:p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nulls, </a:t>
            </a:r>
          </a:p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outliers</a:t>
            </a:r>
          </a:p>
        </p:txBody>
      </p:sp>
      <p:sp>
        <p:nvSpPr>
          <p:cNvPr id="24" name="Freeform 24"/>
          <p:cNvSpPr/>
          <p:nvPr/>
        </p:nvSpPr>
        <p:spPr>
          <a:xfrm>
            <a:off x="9791700" y="72866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229850" y="6210300"/>
            <a:ext cx="2619375" cy="2581275"/>
          </a:xfrm>
          <a:custGeom>
            <a:avLst/>
            <a:gdLst/>
            <a:ahLst/>
            <a:cxnLst/>
            <a:rect l="l" t="t" r="r" b="b"/>
            <a:pathLst>
              <a:path w="2619375" h="2581275">
                <a:moveTo>
                  <a:pt x="0" y="0"/>
                </a:moveTo>
                <a:lnTo>
                  <a:pt x="2619375" y="0"/>
                </a:lnTo>
                <a:lnTo>
                  <a:pt x="2619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607040" y="6912071"/>
            <a:ext cx="190195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81360" y="7365127"/>
            <a:ext cx="1389888" cy="65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Consistency validation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192000" y="7286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2620625" y="6210300"/>
            <a:ext cx="2619375" cy="2581275"/>
          </a:xfrm>
          <a:custGeom>
            <a:avLst/>
            <a:gdLst/>
            <a:ahLst/>
            <a:cxnLst/>
            <a:rect l="l" t="t" r="r" b="b"/>
            <a:pathLst>
              <a:path w="2619375" h="2581275">
                <a:moveTo>
                  <a:pt x="0" y="0"/>
                </a:moveTo>
                <a:lnTo>
                  <a:pt x="2619375" y="0"/>
                </a:lnTo>
                <a:lnTo>
                  <a:pt x="2619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3167360" y="6649403"/>
            <a:ext cx="16093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1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Feature Engineering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05104" y="7437691"/>
            <a:ext cx="107899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analytical columns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801850" y="728662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5020925" y="6210300"/>
            <a:ext cx="2838450" cy="2581275"/>
          </a:xfrm>
          <a:custGeom>
            <a:avLst/>
            <a:gdLst/>
            <a:ahLst/>
            <a:cxnLst/>
            <a:rect l="l" t="t" r="r" b="b"/>
            <a:pathLst>
              <a:path w="2838450" h="2581275">
                <a:moveTo>
                  <a:pt x="0" y="0"/>
                </a:moveTo>
                <a:lnTo>
                  <a:pt x="2838450" y="0"/>
                </a:lnTo>
                <a:lnTo>
                  <a:pt x="2838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6093440" y="6912071"/>
            <a:ext cx="62179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RFM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636240" y="7425862"/>
            <a:ext cx="1517904" cy="63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9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Customer segmentation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7192625" y="72866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6967728" y="2120032"/>
            <a:ext cx="2688336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600,000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86016" y="3066291"/>
            <a:ext cx="2670048" cy="28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159" b="1" spc="-64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BOOKINGS ANALYZED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229850" y="1714500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1064240" y="2120032"/>
            <a:ext cx="822960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30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00816" y="3066291"/>
            <a:ext cx="786384" cy="28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159" b="1" spc="-64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CITIES</a:t>
            </a:r>
          </a:p>
        </p:txBody>
      </p:sp>
      <p:sp>
        <p:nvSpPr>
          <p:cNvPr id="42" name="Freeform 42"/>
          <p:cNvSpPr/>
          <p:nvPr/>
        </p:nvSpPr>
        <p:spPr>
          <a:xfrm>
            <a:off x="12620625" y="1714500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13569696" y="2120032"/>
            <a:ext cx="822960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77088" y="3061078"/>
            <a:ext cx="1444752" cy="29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2195" b="1" spc="-65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COUNTRIES</a:t>
            </a:r>
          </a:p>
        </p:txBody>
      </p:sp>
      <p:sp>
        <p:nvSpPr>
          <p:cNvPr id="45" name="Freeform 45"/>
          <p:cNvSpPr/>
          <p:nvPr/>
        </p:nvSpPr>
        <p:spPr>
          <a:xfrm>
            <a:off x="15020925" y="1714500"/>
            <a:ext cx="219075" cy="1933575"/>
          </a:xfrm>
          <a:custGeom>
            <a:avLst/>
            <a:gdLst/>
            <a:ahLst/>
            <a:cxnLst/>
            <a:rect l="l" t="t" r="r" b="b"/>
            <a:pathLst>
              <a:path w="219075" h="19335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6276320" y="2120032"/>
            <a:ext cx="402336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800832" y="3066291"/>
            <a:ext cx="1353312" cy="28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159" b="1" spc="-64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781675"/>
            <a:ext cx="10458450" cy="3438525"/>
          </a:xfrm>
          <a:custGeom>
            <a:avLst/>
            <a:gdLst/>
            <a:ahLst/>
            <a:cxnLst/>
            <a:rect l="l" t="t" r="r" b="b"/>
            <a:pathLst>
              <a:path w="10458450" h="3438525">
                <a:moveTo>
                  <a:pt x="0" y="0"/>
                </a:moveTo>
                <a:lnTo>
                  <a:pt x="10458450" y="0"/>
                </a:lnTo>
                <a:lnTo>
                  <a:pt x="10458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9639300"/>
            <a:ext cx="12849225" cy="647700"/>
          </a:xfrm>
          <a:custGeom>
            <a:avLst/>
            <a:gdLst/>
            <a:ahLst/>
            <a:cxnLst/>
            <a:rect l="l" t="t" r="r" b="b"/>
            <a:pathLst>
              <a:path w="12849225" h="647700">
                <a:moveTo>
                  <a:pt x="0" y="0"/>
                </a:moveTo>
                <a:lnTo>
                  <a:pt x="12849225" y="0"/>
                </a:lnTo>
                <a:lnTo>
                  <a:pt x="12849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192000" y="9639300"/>
            <a:ext cx="6096000" cy="647700"/>
          </a:xfrm>
          <a:custGeom>
            <a:avLst/>
            <a:gdLst/>
            <a:ahLst/>
            <a:cxnLst/>
            <a:rect l="l" t="t" r="r" b="b"/>
            <a:pathLst>
              <a:path w="6096000" h="647700">
                <a:moveTo>
                  <a:pt x="0" y="0"/>
                </a:moveTo>
                <a:lnTo>
                  <a:pt x="6096000" y="0"/>
                </a:lnTo>
                <a:lnTo>
                  <a:pt x="6096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28625" y="857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28625" y="2571750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21792" y="1408571"/>
            <a:ext cx="7662672" cy="10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 spc="-240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Dataset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5216" y="3428738"/>
            <a:ext cx="1737360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AVERAGE NIGHTS</a:t>
            </a:r>
          </a:p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PER BOOKING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944" y="4396523"/>
            <a:ext cx="1133856" cy="6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sz="4712" b="1" spc="-141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7.50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16352" y="3437363"/>
            <a:ext cx="2212848" cy="58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 b="1" spc="-49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AVERAGE TOTAL PRICE</a:t>
            </a:r>
          </a:p>
          <a:p>
            <a:pPr algn="ctr">
              <a:lnSpc>
                <a:spcPts val="2328"/>
              </a:lnSpc>
            </a:pPr>
            <a:r>
              <a:rPr lang="en-US" sz="1663" b="1" spc="-49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PER BOOKING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35808" y="4417824"/>
            <a:ext cx="1700784" cy="60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4534" b="1" spc="-136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$1,854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2704" y="3428738"/>
            <a:ext cx="1609344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MOST COMMON</a:t>
            </a:r>
          </a:p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ROOM TYPE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5856" y="4402636"/>
            <a:ext cx="1426464" cy="62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5"/>
              </a:lnSpc>
            </a:pPr>
            <a:r>
              <a:rPr lang="en-US" sz="4605" b="1" spc="-138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Triple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12480" y="3419663"/>
            <a:ext cx="1408176" cy="62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1769" b="1" spc="-53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TOP BOOKING</a:t>
            </a:r>
          </a:p>
          <a:p>
            <a:pPr algn="ctr">
              <a:lnSpc>
                <a:spcPts val="2477"/>
              </a:lnSpc>
            </a:pPr>
            <a:r>
              <a:rPr lang="en-US" sz="1769" b="1" spc="-53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CHANNEL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10144" y="4465568"/>
            <a:ext cx="2432304" cy="46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3400" b="1" spc="-102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Booking.com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4944" y="6337211"/>
            <a:ext cx="4187952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b="1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BOOKING STATUS BREAKDOWN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6384" y="7203297"/>
            <a:ext cx="1426464" cy="56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4251" b="1" spc="-127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50.0%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672" y="7962557"/>
            <a:ext cx="1389888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2337" b="1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Completed</a:t>
            </a:r>
          </a:p>
        </p:txBody>
      </p:sp>
      <p:sp>
        <p:nvSpPr>
          <p:cNvPr id="21" name="Freeform 21"/>
          <p:cNvSpPr/>
          <p:nvPr/>
        </p:nvSpPr>
        <p:spPr>
          <a:xfrm>
            <a:off x="2609850" y="7067550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236976" y="7203297"/>
            <a:ext cx="1426464" cy="56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4251" b="1" spc="-127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30.0%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55264" y="7971632"/>
            <a:ext cx="1389888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Confirmed</a:t>
            </a:r>
          </a:p>
        </p:txBody>
      </p:sp>
      <p:sp>
        <p:nvSpPr>
          <p:cNvPr id="24" name="Freeform 24"/>
          <p:cNvSpPr/>
          <p:nvPr/>
        </p:nvSpPr>
        <p:spPr>
          <a:xfrm>
            <a:off x="5000625" y="7067550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724144" y="7203297"/>
            <a:ext cx="1426464" cy="56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4251" b="1" spc="-127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15.0%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60720" y="7971632"/>
            <a:ext cx="1298448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Cancelled</a:t>
            </a:r>
          </a:p>
        </p:txBody>
      </p:sp>
      <p:sp>
        <p:nvSpPr>
          <p:cNvPr id="27" name="Freeform 27"/>
          <p:cNvSpPr/>
          <p:nvPr/>
        </p:nvSpPr>
        <p:spPr>
          <a:xfrm>
            <a:off x="7400925" y="7067550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229600" y="7208960"/>
            <a:ext cx="1097280" cy="55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0"/>
              </a:lnSpc>
            </a:pPr>
            <a:r>
              <a:rPr lang="en-US" sz="4180" b="1" spc="-125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5.0%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93024" y="7971632"/>
            <a:ext cx="1188720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No-Show</a:t>
            </a:r>
          </a:p>
        </p:txBody>
      </p:sp>
      <p:sp>
        <p:nvSpPr>
          <p:cNvPr id="30" name="Freeform 30"/>
          <p:cNvSpPr/>
          <p:nvPr/>
        </p:nvSpPr>
        <p:spPr>
          <a:xfrm>
            <a:off x="0" y="9639300"/>
            <a:ext cx="18288000" cy="219075"/>
          </a:xfrm>
          <a:custGeom>
            <a:avLst/>
            <a:gdLst/>
            <a:ahLst/>
            <a:cxnLst/>
            <a:rect l="l" t="t" r="r" b="b"/>
            <a:pathLst>
              <a:path w="18288000" h="219075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1" name="Image 0">
            <a:extLst>
              <a:ext uri="{FF2B5EF4-FFF2-40B4-BE49-F238E27FC236}">
                <a16:creationId xmlns:a16="http://schemas.microsoft.com/office/drawing/2014/main" id="{386F086D-4CBA-0587-7AF4-BB691981EC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1088" y="2400299"/>
            <a:ext cx="6824859" cy="41148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356F399-19C1-9697-B01A-C259C5E0E0D9}"/>
              </a:ext>
            </a:extLst>
          </p:cNvPr>
          <p:cNvSpPr/>
          <p:nvPr/>
        </p:nvSpPr>
        <p:spPr>
          <a:xfrm>
            <a:off x="10952227" y="2324100"/>
            <a:ext cx="6863720" cy="419100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10775" y="0"/>
            <a:ext cx="8277225" cy="10287000"/>
          </a:xfrm>
          <a:custGeom>
            <a:avLst/>
            <a:gdLst/>
            <a:ahLst/>
            <a:cxnLst/>
            <a:rect l="l" t="t" r="r" b="b"/>
            <a:pathLst>
              <a:path w="8277225" h="10287000">
                <a:moveTo>
                  <a:pt x="0" y="0"/>
                </a:moveTo>
                <a:lnTo>
                  <a:pt x="8277225" y="0"/>
                </a:lnTo>
                <a:lnTo>
                  <a:pt x="8277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791700" y="0"/>
            <a:ext cx="2838450" cy="10287000"/>
          </a:xfrm>
          <a:custGeom>
            <a:avLst/>
            <a:gdLst/>
            <a:ahLst/>
            <a:cxnLst/>
            <a:rect l="l" t="t" r="r" b="b"/>
            <a:pathLst>
              <a:path w="2838450" h="10287000">
                <a:moveTo>
                  <a:pt x="0" y="0"/>
                </a:moveTo>
                <a:lnTo>
                  <a:pt x="2838450" y="0"/>
                </a:lnTo>
                <a:lnTo>
                  <a:pt x="2838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7700" y="428625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31520" y="944425"/>
            <a:ext cx="5431536" cy="182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6980" b="1" spc="-139">
                <a:solidFill>
                  <a:srgbClr val="00253B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 &amp; Validation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47700" y="2781300"/>
            <a:ext cx="1971675" cy="438150"/>
          </a:xfrm>
          <a:custGeom>
            <a:avLst/>
            <a:gdLst/>
            <a:ahLst/>
            <a:cxnLst/>
            <a:rect l="l" t="t" r="r" b="b"/>
            <a:pathLst>
              <a:path w="1971675" h="438150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810512" y="3527648"/>
            <a:ext cx="2011680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Duplicate rows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10512" y="3905201"/>
            <a:ext cx="3950208" cy="27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dataset clean of exact duplicates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33550" y="4286250"/>
            <a:ext cx="7200900" cy="219075"/>
          </a:xfrm>
          <a:custGeom>
            <a:avLst/>
            <a:gdLst/>
            <a:ahLst/>
            <a:cxnLst/>
            <a:rect l="l" t="t" r="r" b="b"/>
            <a:pathLst>
              <a:path w="7200900" h="219075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10512" y="4587209"/>
            <a:ext cx="2029968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Missing values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0512" y="4950024"/>
            <a:ext cx="2724912" cy="2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124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no nulls in 22 columns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33550" y="5353050"/>
            <a:ext cx="7200900" cy="219075"/>
          </a:xfrm>
          <a:custGeom>
            <a:avLst/>
            <a:gdLst/>
            <a:ahLst/>
            <a:cxnLst/>
            <a:rect l="l" t="t" r="r" b="b"/>
            <a:pathLst>
              <a:path w="7200900" h="219075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810512" y="5652606"/>
            <a:ext cx="2999232" cy="33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407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Outliers (IQR method)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0512" y="6045347"/>
            <a:ext cx="5650992" cy="27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2053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adults, children, nights, and price all within range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3550" y="6429375"/>
            <a:ext cx="7200900" cy="219075"/>
          </a:xfrm>
          <a:custGeom>
            <a:avLst/>
            <a:gdLst/>
            <a:ahLst/>
            <a:cxnLst/>
            <a:rect l="l" t="t" r="r" b="b"/>
            <a:pathLst>
              <a:path w="7200900" h="219075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810512" y="6747479"/>
            <a:ext cx="318211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Logical inconsistencies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10512" y="7125482"/>
            <a:ext cx="4681728" cy="27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2053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validated nights vs. dates, prices, guests</a:t>
            </a:r>
          </a:p>
        </p:txBody>
      </p:sp>
      <p:sp>
        <p:nvSpPr>
          <p:cNvPr id="19" name="Freeform 19"/>
          <p:cNvSpPr/>
          <p:nvPr/>
        </p:nvSpPr>
        <p:spPr>
          <a:xfrm>
            <a:off x="209550" y="7715250"/>
            <a:ext cx="10458450" cy="2362200"/>
          </a:xfrm>
          <a:custGeom>
            <a:avLst/>
            <a:gdLst/>
            <a:ahLst/>
            <a:cxnLst/>
            <a:rect l="l" t="t" r="r" b="b"/>
            <a:pathLst>
              <a:path w="10458450" h="2362200">
                <a:moveTo>
                  <a:pt x="0" y="0"/>
                </a:moveTo>
                <a:lnTo>
                  <a:pt x="10458450" y="0"/>
                </a:lnTo>
                <a:lnTo>
                  <a:pt x="1045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09550" y="7715250"/>
            <a:ext cx="447675" cy="2362200"/>
          </a:xfrm>
          <a:custGeom>
            <a:avLst/>
            <a:gdLst/>
            <a:ahLst/>
            <a:cxnLst/>
            <a:rect l="l" t="t" r="r" b="b"/>
            <a:pathLst>
              <a:path w="447675" h="2362200">
                <a:moveTo>
                  <a:pt x="0" y="0"/>
                </a:moveTo>
                <a:lnTo>
                  <a:pt x="447675" y="0"/>
                </a:lnTo>
                <a:lnTo>
                  <a:pt x="447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04672" y="8258557"/>
            <a:ext cx="2907792" cy="598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59" b="1" spc="-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price vs.</a:t>
            </a:r>
          </a:p>
          <a:p>
            <a:pPr algn="l">
              <a:lnSpc>
                <a:spcPts val="2375"/>
              </a:lnSpc>
            </a:pPr>
            <a:r>
              <a:rPr lang="en-US" sz="2159" b="1" spc="-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(price per night × nights)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4672" y="9137941"/>
            <a:ext cx="1499616" cy="25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ratio averages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3914775" y="814387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224528" y="8224330"/>
            <a:ext cx="1700784" cy="937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6909" b="1" spc="-138" dirty="0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0.95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1104" y="9137941"/>
            <a:ext cx="1755648" cy="25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range 0.66–1.53</a:t>
            </a:r>
          </a:p>
        </p:txBody>
      </p:sp>
      <p:sp>
        <p:nvSpPr>
          <p:cNvPr id="26" name="Freeform 26"/>
          <p:cNvSpPr/>
          <p:nvPr/>
        </p:nvSpPr>
        <p:spPr>
          <a:xfrm>
            <a:off x="6096000" y="8143875"/>
            <a:ext cx="438150" cy="1504950"/>
          </a:xfrm>
          <a:custGeom>
            <a:avLst/>
            <a:gdLst/>
            <a:ahLst/>
            <a:cxnLst/>
            <a:rect l="l" t="t" r="r" b="b"/>
            <a:pathLst>
              <a:path w="438150" h="1504950">
                <a:moveTo>
                  <a:pt x="0" y="0"/>
                </a:moveTo>
                <a:lnTo>
                  <a:pt x="438150" y="0"/>
                </a:lnTo>
                <a:lnTo>
                  <a:pt x="438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656832" y="8262438"/>
            <a:ext cx="1847088" cy="2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124" b="1" spc="-42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Outlier handling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6832" y="8582806"/>
            <a:ext cx="2852928" cy="81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IQR-based clip() applied with no actual data change due to zero outliers.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3429000"/>
          </a:xfrm>
          <a:custGeom>
            <a:avLst/>
            <a:gdLst/>
            <a:ahLst/>
            <a:cxnLst/>
            <a:rect l="l" t="t" r="r" b="b"/>
            <a:pathLst>
              <a:path w="18288000" h="3429000">
                <a:moveTo>
                  <a:pt x="0" y="0"/>
                </a:moveTo>
                <a:lnTo>
                  <a:pt x="18288000" y="0"/>
                </a:lnTo>
                <a:lnTo>
                  <a:pt x="18288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28625" y="42862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3504" y="743333"/>
            <a:ext cx="9491472" cy="146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7"/>
              </a:lnSpc>
            </a:pPr>
            <a:r>
              <a:rPr lang="en-US" sz="8505" b="1" spc="-1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Feature Engineering</a:t>
            </a:r>
          </a:p>
        </p:txBody>
      </p:sp>
      <p:sp>
        <p:nvSpPr>
          <p:cNvPr id="7" name="Freeform 7"/>
          <p:cNvSpPr/>
          <p:nvPr/>
        </p:nvSpPr>
        <p:spPr>
          <a:xfrm>
            <a:off x="428625" y="2143125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03504" y="2608236"/>
            <a:ext cx="5650992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analytical columns for deeper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720" y="4031672"/>
            <a:ext cx="1609344" cy="322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0"/>
              </a:lnSpc>
            </a:pPr>
            <a:r>
              <a:rPr lang="en-US" sz="18714" b="1">
                <a:solidFill>
                  <a:srgbClr val="4CC0D9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5296" y="7137303"/>
            <a:ext cx="2962656" cy="48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2762" b="1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NEW DIMENSIONS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5296" y="7665752"/>
            <a:ext cx="3438144" cy="34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richer signals, better decisions</a:t>
            </a:r>
          </a:p>
        </p:txBody>
      </p:sp>
      <p:sp>
        <p:nvSpPr>
          <p:cNvPr id="12" name="Freeform 12"/>
          <p:cNvSpPr/>
          <p:nvPr/>
        </p:nvSpPr>
        <p:spPr>
          <a:xfrm>
            <a:off x="5000625" y="3638550"/>
            <a:ext cx="228600" cy="5581650"/>
          </a:xfrm>
          <a:custGeom>
            <a:avLst/>
            <a:gdLst/>
            <a:ahLst/>
            <a:cxnLst/>
            <a:rect l="l" t="t" r="r" b="b"/>
            <a:pathLst>
              <a:path w="228600" h="5581650">
                <a:moveTo>
                  <a:pt x="0" y="0"/>
                </a:moveTo>
                <a:lnTo>
                  <a:pt x="228600" y="0"/>
                </a:lnTo>
                <a:lnTo>
                  <a:pt x="22860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876925" y="3638550"/>
            <a:ext cx="2619375" cy="1504950"/>
          </a:xfrm>
          <a:custGeom>
            <a:avLst/>
            <a:gdLst/>
            <a:ahLst/>
            <a:cxnLst/>
            <a:rect l="l" t="t" r="r" b="b"/>
            <a:pathLst>
              <a:path w="2619375" h="1504950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>
            <a:off x="7181850" y="40671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6419088" y="3962566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16" name="Freeform 16"/>
          <p:cNvSpPr/>
          <p:nvPr/>
        </p:nvSpPr>
        <p:spPr>
          <a:xfrm>
            <a:off x="7829550" y="3638550"/>
            <a:ext cx="9591675" cy="1504950"/>
          </a:xfrm>
          <a:custGeom>
            <a:avLst/>
            <a:gdLst/>
            <a:ahLst/>
            <a:cxnLst/>
            <a:rect l="l" t="t" r="r" b="b"/>
            <a:pathLst>
              <a:path w="9591675" h="1504950">
                <a:moveTo>
                  <a:pt x="0" y="0"/>
                </a:moveTo>
                <a:lnTo>
                  <a:pt x="9591675" y="0"/>
                </a:lnTo>
                <a:lnTo>
                  <a:pt x="959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869679" y="3906060"/>
            <a:ext cx="2619375" cy="432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TIME FEATURES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5876925" y="5143500"/>
            <a:ext cx="2619375" cy="1285875"/>
          </a:xfrm>
          <a:custGeom>
            <a:avLst/>
            <a:gdLst/>
            <a:ahLst/>
            <a:cxnLst/>
            <a:rect l="l" t="t" r="r" b="b"/>
            <a:pathLst>
              <a:path w="2619375" h="1285875">
                <a:moveTo>
                  <a:pt x="0" y="0"/>
                </a:moveTo>
                <a:lnTo>
                  <a:pt x="2619375" y="0"/>
                </a:lnTo>
                <a:lnTo>
                  <a:pt x="2619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181850" y="55721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419088" y="5371885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1" name="Freeform 21"/>
          <p:cNvSpPr/>
          <p:nvPr/>
        </p:nvSpPr>
        <p:spPr>
          <a:xfrm>
            <a:off x="7829550" y="5143500"/>
            <a:ext cx="9591675" cy="1285875"/>
          </a:xfrm>
          <a:custGeom>
            <a:avLst/>
            <a:gdLst/>
            <a:ahLst/>
            <a:cxnLst/>
            <a:rect l="l" t="t" r="r" b="b"/>
            <a:pathLst>
              <a:path w="9591675" h="1285875">
                <a:moveTo>
                  <a:pt x="0" y="0"/>
                </a:moveTo>
                <a:lnTo>
                  <a:pt x="9591675" y="0"/>
                </a:lnTo>
                <a:lnTo>
                  <a:pt x="9591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869680" y="5320454"/>
            <a:ext cx="2712720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LENGTH OF STAY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9680" y="5817486"/>
            <a:ext cx="7424928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calculate stay duration from check-out minus check-in dates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5876925" y="6429375"/>
            <a:ext cx="2619375" cy="1504950"/>
          </a:xfrm>
          <a:custGeom>
            <a:avLst/>
            <a:gdLst/>
            <a:ahLst/>
            <a:cxnLst/>
            <a:rect l="l" t="t" r="r" b="b"/>
            <a:pathLst>
              <a:path w="2619375" h="1504950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5" name="Freeform 25"/>
          <p:cNvSpPr/>
          <p:nvPr/>
        </p:nvSpPr>
        <p:spPr>
          <a:xfrm>
            <a:off x="7181850" y="706755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6419088" y="6781204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29550" y="6429375"/>
            <a:ext cx="9591675" cy="1504950"/>
          </a:xfrm>
          <a:custGeom>
            <a:avLst/>
            <a:gdLst/>
            <a:ahLst/>
            <a:cxnLst/>
            <a:rect l="l" t="t" r="r" b="b"/>
            <a:pathLst>
              <a:path w="9591675" h="1504950">
                <a:moveTo>
                  <a:pt x="0" y="0"/>
                </a:moveTo>
                <a:lnTo>
                  <a:pt x="9591675" y="0"/>
                </a:lnTo>
                <a:lnTo>
                  <a:pt x="959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869680" y="6709199"/>
            <a:ext cx="5151120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DOMESTIC VS. INTERNATIONAL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69680" y="7206681"/>
            <a:ext cx="7498080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identify domestic bookings in Egypt with a clear booking flag</a:t>
            </a:r>
          </a:p>
        </p:txBody>
      </p:sp>
      <p:sp>
        <p:nvSpPr>
          <p:cNvPr id="30" name="Freeform 30"/>
          <p:cNvSpPr/>
          <p:nvPr/>
        </p:nvSpPr>
        <p:spPr>
          <a:xfrm>
            <a:off x="5876925" y="7924800"/>
            <a:ext cx="2619375" cy="1295400"/>
          </a:xfrm>
          <a:custGeom>
            <a:avLst/>
            <a:gdLst/>
            <a:ahLst/>
            <a:cxnLst/>
            <a:rect l="l" t="t" r="r" b="b"/>
            <a:pathLst>
              <a:path w="2619375" h="1295400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7181850" y="835342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419088" y="8200810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33" name="Freeform 33"/>
          <p:cNvSpPr/>
          <p:nvPr/>
        </p:nvSpPr>
        <p:spPr>
          <a:xfrm>
            <a:off x="7829550" y="7924800"/>
            <a:ext cx="9591675" cy="1295400"/>
          </a:xfrm>
          <a:custGeom>
            <a:avLst/>
            <a:gdLst/>
            <a:ahLst/>
            <a:cxnLst/>
            <a:rect l="l" t="t" r="r" b="b"/>
            <a:pathLst>
              <a:path w="9591675" h="1295400">
                <a:moveTo>
                  <a:pt x="0" y="0"/>
                </a:moveTo>
                <a:lnTo>
                  <a:pt x="9591675" y="0"/>
                </a:lnTo>
                <a:lnTo>
                  <a:pt x="959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8869680" y="8149379"/>
            <a:ext cx="3566160" cy="43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1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POPULARITY COUNTERS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69680" y="8646861"/>
            <a:ext cx="7644384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aggregate hotel and city booking volumes for demand signals</a:t>
            </a:r>
          </a:p>
        </p:txBody>
      </p:sp>
      <p:sp>
        <p:nvSpPr>
          <p:cNvPr id="36" name="Freeform 36"/>
          <p:cNvSpPr/>
          <p:nvPr/>
        </p:nvSpPr>
        <p:spPr>
          <a:xfrm>
            <a:off x="0" y="9639300"/>
            <a:ext cx="18288000" cy="438150"/>
          </a:xfrm>
          <a:custGeom>
            <a:avLst/>
            <a:gdLst/>
            <a:ahLst/>
            <a:cxnLst/>
            <a:rect l="l" t="t" r="r" b="b"/>
            <a:pathLst>
              <a:path w="18288000" h="438150">
                <a:moveTo>
                  <a:pt x="0" y="0"/>
                </a:moveTo>
                <a:lnTo>
                  <a:pt x="18288000" y="0"/>
                </a:lnTo>
                <a:lnTo>
                  <a:pt x="182880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8869680" y="4397880"/>
            <a:ext cx="7022592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capture check-in year, month, weekday, and weekend flag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7700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58368" y="1180334"/>
            <a:ext cx="12527280" cy="104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725" b="1" spc="-1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RFM Customer Segmentation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143125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76656" y="2654999"/>
            <a:ext cx="1068019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Score customers across three dimensions to reveal value-driven segments.</a:t>
            </a:r>
          </a:p>
        </p:txBody>
      </p:sp>
      <p:sp>
        <p:nvSpPr>
          <p:cNvPr id="7" name="Freeform 7"/>
          <p:cNvSpPr/>
          <p:nvPr/>
        </p:nvSpPr>
        <p:spPr>
          <a:xfrm>
            <a:off x="1085850" y="3209925"/>
            <a:ext cx="5229225" cy="3009900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19072" y="3727206"/>
            <a:ext cx="987552" cy="159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1979" b="1" spc="-239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36976" y="3813810"/>
            <a:ext cx="146304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 spc="-53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RECENCY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6976" y="4375213"/>
            <a:ext cx="1572768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Days since last booking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6524625" y="3209925"/>
            <a:ext cx="5238750" cy="3009900"/>
          </a:xfrm>
          <a:custGeom>
            <a:avLst/>
            <a:gdLst/>
            <a:ahLst/>
            <a:cxnLst/>
            <a:rect l="l" t="t" r="r" b="b"/>
            <a:pathLst>
              <a:path w="5238750" h="3009900">
                <a:moveTo>
                  <a:pt x="0" y="0"/>
                </a:moveTo>
                <a:lnTo>
                  <a:pt x="5238750" y="0"/>
                </a:lnTo>
                <a:lnTo>
                  <a:pt x="5238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095744" y="3727206"/>
            <a:ext cx="804672" cy="159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1979" b="1" spc="-239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4192" y="3813810"/>
            <a:ext cx="188366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 spc="-53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FREQUENCY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94192" y="4365689"/>
            <a:ext cx="235915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Number of unique bookings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94192" y="5249418"/>
            <a:ext cx="263347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(mostly 1 due to unique guest_email per booking)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753850" y="3209925"/>
            <a:ext cx="5229225" cy="3009900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2435840" y="3727206"/>
            <a:ext cx="1353312" cy="159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1979" b="1" spc="-239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73200" y="3823335"/>
            <a:ext cx="173736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b="1" spc="-51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MONETARY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73200" y="4365689"/>
            <a:ext cx="179222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amount spent</a:t>
            </a:r>
          </a:p>
        </p:txBody>
      </p:sp>
      <p:sp>
        <p:nvSpPr>
          <p:cNvPr id="20" name="Freeform 20"/>
          <p:cNvSpPr/>
          <p:nvPr/>
        </p:nvSpPr>
        <p:spPr>
          <a:xfrm>
            <a:off x="1733550" y="6429375"/>
            <a:ext cx="4152900" cy="219075"/>
          </a:xfrm>
          <a:custGeom>
            <a:avLst/>
            <a:gdLst/>
            <a:ahLst/>
            <a:cxnLst/>
            <a:rect l="l" t="t" r="r" b="b"/>
            <a:pathLst>
              <a:path w="4152900" h="219075">
                <a:moveTo>
                  <a:pt x="0" y="0"/>
                </a:moveTo>
                <a:lnTo>
                  <a:pt x="4152900" y="0"/>
                </a:lnTo>
                <a:lnTo>
                  <a:pt x="4152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980176" y="6288595"/>
            <a:ext cx="625449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939" b="1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Each dimension scored </a:t>
            </a:r>
            <a:r>
              <a:rPr lang="en-US" sz="2939" b="1" spc="-58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1–5</a:t>
            </a:r>
            <a:r>
              <a:rPr lang="en-US" sz="2939" b="1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(quintiles)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401550" y="6429375"/>
            <a:ext cx="3933825" cy="219075"/>
          </a:xfrm>
          <a:custGeom>
            <a:avLst/>
            <a:gdLst/>
            <a:ahLst/>
            <a:cxnLst/>
            <a:rect l="l" t="t" r="r" b="b"/>
            <a:pathLst>
              <a:path w="3933825" h="21907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924925" y="685800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304925" y="7286625"/>
            <a:ext cx="15678150" cy="1076325"/>
          </a:xfrm>
          <a:custGeom>
            <a:avLst/>
            <a:gdLst/>
            <a:ahLst/>
            <a:cxnLst/>
            <a:rect l="l" t="t" r="r" b="b"/>
            <a:pathLst>
              <a:path w="15678150" h="1076325">
                <a:moveTo>
                  <a:pt x="0" y="0"/>
                </a:moveTo>
                <a:lnTo>
                  <a:pt x="15678150" y="0"/>
                </a:lnTo>
                <a:lnTo>
                  <a:pt x="1567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931152" y="7673911"/>
            <a:ext cx="61813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combined and mapped to customer segments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04925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212848" y="8643938"/>
            <a:ext cx="135331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BRONZE</a:t>
            </a:r>
          </a:p>
        </p:txBody>
      </p:sp>
      <p:sp>
        <p:nvSpPr>
          <p:cNvPr id="28" name="Freeform 28"/>
          <p:cNvSpPr/>
          <p:nvPr/>
        </p:nvSpPr>
        <p:spPr>
          <a:xfrm>
            <a:off x="4352925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5468112" y="8648700"/>
            <a:ext cx="109728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sz="2691" b="1" spc="-53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SILVER</a:t>
            </a:r>
          </a:p>
        </p:txBody>
      </p:sp>
      <p:sp>
        <p:nvSpPr>
          <p:cNvPr id="30" name="Freeform 30"/>
          <p:cNvSpPr/>
          <p:nvPr/>
        </p:nvSpPr>
        <p:spPr>
          <a:xfrm>
            <a:off x="7400925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650224" y="8643938"/>
            <a:ext cx="89611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GOLD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668000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1430000" y="8643938"/>
            <a:ext cx="16093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PREMIUM</a:t>
            </a:r>
          </a:p>
        </p:txBody>
      </p:sp>
      <p:sp>
        <p:nvSpPr>
          <p:cNvPr id="34" name="Freeform 34"/>
          <p:cNvSpPr/>
          <p:nvPr/>
        </p:nvSpPr>
        <p:spPr>
          <a:xfrm>
            <a:off x="13716000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4465808" y="8643938"/>
            <a:ext cx="171907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762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PLATINUM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79008" y="9641205"/>
            <a:ext cx="85587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Frequency dimension is limited by the dataset's unique guest_email per booking.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20640" y="7673911"/>
            <a:ext cx="166420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9"/>
              </a:lnSpc>
            </a:pPr>
            <a:r>
              <a:rPr lang="en-US" sz="2407" b="1" spc="-48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RFM SCORE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803904" y="9631680"/>
            <a:ext cx="18836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 spc="-42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Important note: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CDBA-7EFD-1C00-B689-4E4A0DA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D481BB-FAE1-1FA0-68D7-28C44EB0F41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07979A-C898-0162-C80E-E8DAAFE2A059}"/>
              </a:ext>
            </a:extLst>
          </p:cNvPr>
          <p:cNvSpPr/>
          <p:nvPr/>
        </p:nvSpPr>
        <p:spPr>
          <a:xfrm>
            <a:off x="647700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74CBCEA-BB83-23F3-1C9D-CD498595A1D1}"/>
              </a:ext>
            </a:extLst>
          </p:cNvPr>
          <p:cNvSpPr txBox="1"/>
          <p:nvPr/>
        </p:nvSpPr>
        <p:spPr>
          <a:xfrm>
            <a:off x="658368" y="1028700"/>
            <a:ext cx="12527280" cy="197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25"/>
              </a:lnSpc>
            </a:pPr>
            <a:r>
              <a:rPr lang="en-US" sz="6600" b="1" spc="-170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Modeling &amp; Summarization</a:t>
            </a:r>
          </a:p>
          <a:p>
            <a:pPr algn="l">
              <a:lnSpc>
                <a:spcPts val="7725"/>
              </a:lnSpc>
            </a:pPr>
            <a:endParaRPr lang="en-US" sz="7725" b="1" spc="-154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B8F849F-A30D-A2B5-DA4A-7440847E7390}"/>
              </a:ext>
            </a:extLst>
          </p:cNvPr>
          <p:cNvSpPr/>
          <p:nvPr/>
        </p:nvSpPr>
        <p:spPr>
          <a:xfrm>
            <a:off x="647700" y="1943100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DAB3367-BE84-1B03-3039-07952D853C05}"/>
              </a:ext>
            </a:extLst>
          </p:cNvPr>
          <p:cNvSpPr txBox="1"/>
          <p:nvPr/>
        </p:nvSpPr>
        <p:spPr>
          <a:xfrm>
            <a:off x="11430000" y="8643938"/>
            <a:ext cx="16093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 dirty="0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PREMIUM</a:t>
            </a:r>
          </a:p>
        </p:txBody>
      </p:sp>
      <p:sp>
        <p:nvSpPr>
          <p:cNvPr id="159" name="Freeform 7">
            <a:extLst>
              <a:ext uri="{FF2B5EF4-FFF2-40B4-BE49-F238E27FC236}">
                <a16:creationId xmlns:a16="http://schemas.microsoft.com/office/drawing/2014/main" id="{303B7FD9-0085-DF79-C69D-D6EC5A20E567}"/>
              </a:ext>
            </a:extLst>
          </p:cNvPr>
          <p:cNvSpPr/>
          <p:nvPr/>
        </p:nvSpPr>
        <p:spPr>
          <a:xfrm>
            <a:off x="7696200" y="2324100"/>
            <a:ext cx="10172700" cy="7826536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2" name="Freeform 8">
            <a:extLst>
              <a:ext uri="{FF2B5EF4-FFF2-40B4-BE49-F238E27FC236}">
                <a16:creationId xmlns:a16="http://schemas.microsoft.com/office/drawing/2014/main" id="{9F5ACA34-5BDF-319C-4891-586E4370601C}"/>
              </a:ext>
            </a:extLst>
          </p:cNvPr>
          <p:cNvSpPr/>
          <p:nvPr/>
        </p:nvSpPr>
        <p:spPr>
          <a:xfrm>
            <a:off x="8394192" y="3520079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ar-EG" sz="5400" dirty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3" name="Freeform 8">
            <a:extLst>
              <a:ext uri="{FF2B5EF4-FFF2-40B4-BE49-F238E27FC236}">
                <a16:creationId xmlns:a16="http://schemas.microsoft.com/office/drawing/2014/main" id="{AFCFAD7A-DBC6-CB63-7E78-903724BD96B3}"/>
              </a:ext>
            </a:extLst>
          </p:cNvPr>
          <p:cNvSpPr/>
          <p:nvPr/>
        </p:nvSpPr>
        <p:spPr>
          <a:xfrm>
            <a:off x="8370129" y="4880794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ar-EG" sz="5400" dirty="0">
                <a:solidFill>
                  <a:schemeClr val="tx2">
                    <a:lumMod val="75000"/>
                  </a:schemeClr>
                </a:solidFill>
              </a:rPr>
              <a:t>2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4" name="Freeform 8">
            <a:extLst>
              <a:ext uri="{FF2B5EF4-FFF2-40B4-BE49-F238E27FC236}">
                <a16:creationId xmlns:a16="http://schemas.microsoft.com/office/drawing/2014/main" id="{2C60A07E-D1BE-99EB-8B40-E0216677F7F7}"/>
              </a:ext>
            </a:extLst>
          </p:cNvPr>
          <p:cNvSpPr/>
          <p:nvPr/>
        </p:nvSpPr>
        <p:spPr>
          <a:xfrm>
            <a:off x="8370129" y="6362700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en-US" sz="5400" dirty="0">
                <a:solidFill>
                  <a:schemeClr val="tx2">
                    <a:lumMod val="75000"/>
                  </a:schemeClr>
                </a:solidFill>
              </a:rPr>
              <a:t>3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7" name="TextBox 17">
            <a:extLst>
              <a:ext uri="{FF2B5EF4-FFF2-40B4-BE49-F238E27FC236}">
                <a16:creationId xmlns:a16="http://schemas.microsoft.com/office/drawing/2014/main" id="{E2000D5A-6586-FE14-4FAB-D0ED8542B0C4}"/>
              </a:ext>
            </a:extLst>
          </p:cNvPr>
          <p:cNvSpPr txBox="1"/>
          <p:nvPr/>
        </p:nvSpPr>
        <p:spPr>
          <a:xfrm>
            <a:off x="9677399" y="3325618"/>
            <a:ext cx="2619375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WEEKEND: 71.5%</a:t>
            </a:r>
          </a:p>
        </p:txBody>
      </p:sp>
      <p:sp>
        <p:nvSpPr>
          <p:cNvPr id="169" name="TextBox 37">
            <a:extLst>
              <a:ext uri="{FF2B5EF4-FFF2-40B4-BE49-F238E27FC236}">
                <a16:creationId xmlns:a16="http://schemas.microsoft.com/office/drawing/2014/main" id="{3873B18E-B7F0-8939-E7ED-62E8476E8F15}"/>
              </a:ext>
            </a:extLst>
          </p:cNvPr>
          <p:cNvSpPr txBox="1"/>
          <p:nvPr/>
        </p:nvSpPr>
        <p:spPr>
          <a:xfrm>
            <a:off x="9677400" y="3817438"/>
            <a:ext cx="7022592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Weekend bookings far </a:t>
            </a: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sym typeface="Roboto"/>
              </a:rPr>
              <a:t>outweigh</a:t>
            </a:r>
            <a:r>
              <a:rPr lang="en-U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weekday demand across the dataset</a:t>
            </a:r>
          </a:p>
        </p:txBody>
      </p:sp>
      <p:sp>
        <p:nvSpPr>
          <p:cNvPr id="175" name="TextBox 22">
            <a:extLst>
              <a:ext uri="{FF2B5EF4-FFF2-40B4-BE49-F238E27FC236}">
                <a16:creationId xmlns:a16="http://schemas.microsoft.com/office/drawing/2014/main" id="{A2B0CD54-E44E-CFF8-5F96-201A39F2660E}"/>
              </a:ext>
            </a:extLst>
          </p:cNvPr>
          <p:cNvSpPr txBox="1"/>
          <p:nvPr/>
        </p:nvSpPr>
        <p:spPr>
          <a:xfrm>
            <a:off x="9491472" y="4823553"/>
            <a:ext cx="2712720" cy="41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00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T</a:t>
            </a: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OP CHANNEL</a:t>
            </a:r>
          </a:p>
        </p:txBody>
      </p:sp>
      <p:sp>
        <p:nvSpPr>
          <p:cNvPr id="177" name="TextBox 23">
            <a:extLst>
              <a:ext uri="{FF2B5EF4-FFF2-40B4-BE49-F238E27FC236}">
                <a16:creationId xmlns:a16="http://schemas.microsoft.com/office/drawing/2014/main" id="{7914D653-4D60-6E3D-B03D-2737688351B1}"/>
              </a:ext>
            </a:extLst>
          </p:cNvPr>
          <p:cNvSpPr txBox="1"/>
          <p:nvPr/>
        </p:nvSpPr>
        <p:spPr>
          <a:xfrm>
            <a:off x="9491472" y="5295900"/>
            <a:ext cx="742492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Booking.com leads with 168,000+ bookings, ahead of Expedia and Direct Website</a:t>
            </a:r>
          </a:p>
        </p:txBody>
      </p:sp>
      <p:sp>
        <p:nvSpPr>
          <p:cNvPr id="178" name="Freeform 8">
            <a:extLst>
              <a:ext uri="{FF2B5EF4-FFF2-40B4-BE49-F238E27FC236}">
                <a16:creationId xmlns:a16="http://schemas.microsoft.com/office/drawing/2014/main" id="{B9FE2647-80EB-A5C1-5B1D-DFC0BAF727DF}"/>
              </a:ext>
            </a:extLst>
          </p:cNvPr>
          <p:cNvSpPr/>
          <p:nvPr/>
        </p:nvSpPr>
        <p:spPr>
          <a:xfrm>
            <a:off x="8394192" y="8081194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en-US" sz="5400" dirty="0">
                <a:solidFill>
                  <a:schemeClr val="tx2">
                    <a:lumMod val="75000"/>
                  </a:schemeClr>
                </a:solidFill>
              </a:rPr>
              <a:t>4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0" name="TextBox 8">
            <a:extLst>
              <a:ext uri="{FF2B5EF4-FFF2-40B4-BE49-F238E27FC236}">
                <a16:creationId xmlns:a16="http://schemas.microsoft.com/office/drawing/2014/main" id="{AC45C611-81C4-CCE5-23E2-A7B4A8CFE9B1}"/>
              </a:ext>
            </a:extLst>
          </p:cNvPr>
          <p:cNvSpPr txBox="1"/>
          <p:nvPr/>
        </p:nvSpPr>
        <p:spPr>
          <a:xfrm>
            <a:off x="597408" y="2442666"/>
            <a:ext cx="565099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1"/>
              </a:lnSpc>
            </a:pPr>
            <a:r>
              <a:rPr lang="en-US" sz="3200" spc="-4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Matrix Power Bi and KPIs reveal key business patterns</a:t>
            </a:r>
          </a:p>
        </p:txBody>
      </p:sp>
      <p:sp>
        <p:nvSpPr>
          <p:cNvPr id="190" name="TextBox 28">
            <a:extLst>
              <a:ext uri="{FF2B5EF4-FFF2-40B4-BE49-F238E27FC236}">
                <a16:creationId xmlns:a16="http://schemas.microsoft.com/office/drawing/2014/main" id="{D006EBAB-5294-73DD-1C88-460EA5B64419}"/>
              </a:ext>
            </a:extLst>
          </p:cNvPr>
          <p:cNvSpPr txBox="1"/>
          <p:nvPr/>
        </p:nvSpPr>
        <p:spPr>
          <a:xfrm>
            <a:off x="9448800" y="6362700"/>
            <a:ext cx="5151120" cy="41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sym typeface="Roboto Bold"/>
              </a:rPr>
              <a:t>AVERAGE</a:t>
            </a: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 BOOKING VALUE</a:t>
            </a:r>
          </a:p>
        </p:txBody>
      </p:sp>
      <p:sp>
        <p:nvSpPr>
          <p:cNvPr id="192" name="TextBox 29">
            <a:extLst>
              <a:ext uri="{FF2B5EF4-FFF2-40B4-BE49-F238E27FC236}">
                <a16:creationId xmlns:a16="http://schemas.microsoft.com/office/drawing/2014/main" id="{F6368222-69B6-EE1B-3239-7BD41BCD5A60}"/>
              </a:ext>
            </a:extLst>
          </p:cNvPr>
          <p:cNvSpPr txBox="1"/>
          <p:nvPr/>
        </p:nvSpPr>
        <p:spPr>
          <a:xfrm>
            <a:off x="9448800" y="6860182"/>
            <a:ext cx="749808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Around $1.85K per booking, with an average stay of 7.5 days</a:t>
            </a:r>
          </a:p>
        </p:txBody>
      </p:sp>
      <p:sp>
        <p:nvSpPr>
          <p:cNvPr id="194" name="TextBox 34">
            <a:extLst>
              <a:ext uri="{FF2B5EF4-FFF2-40B4-BE49-F238E27FC236}">
                <a16:creationId xmlns:a16="http://schemas.microsoft.com/office/drawing/2014/main" id="{38259CFF-5A7C-6A7B-8F37-8B5F82371B2B}"/>
              </a:ext>
            </a:extLst>
          </p:cNvPr>
          <p:cNvSpPr txBox="1"/>
          <p:nvPr/>
        </p:nvSpPr>
        <p:spPr>
          <a:xfrm>
            <a:off x="9525000" y="8147111"/>
            <a:ext cx="356616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CANCELLATIONS</a:t>
            </a:r>
          </a:p>
        </p:txBody>
      </p:sp>
      <p:sp>
        <p:nvSpPr>
          <p:cNvPr id="196" name="TextBox 35">
            <a:extLst>
              <a:ext uri="{FF2B5EF4-FFF2-40B4-BE49-F238E27FC236}">
                <a16:creationId xmlns:a16="http://schemas.microsoft.com/office/drawing/2014/main" id="{7B06B0B8-C1F3-C757-F49D-E916B0E6B645}"/>
              </a:ext>
            </a:extLst>
          </p:cNvPr>
          <p:cNvSpPr txBox="1"/>
          <p:nvPr/>
        </p:nvSpPr>
        <p:spPr>
          <a:xfrm>
            <a:off x="9525000" y="8644593"/>
            <a:ext cx="7644384" cy="76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Similar cancellation rates across channels; room-type demand is balanced</a:t>
            </a:r>
          </a:p>
        </p:txBody>
      </p:sp>
      <p:sp>
        <p:nvSpPr>
          <p:cNvPr id="198" name="TextBox 9">
            <a:extLst>
              <a:ext uri="{FF2B5EF4-FFF2-40B4-BE49-F238E27FC236}">
                <a16:creationId xmlns:a16="http://schemas.microsoft.com/office/drawing/2014/main" id="{6AE27E23-0B2D-440A-67DB-282B839C6AEE}"/>
              </a:ext>
            </a:extLst>
          </p:cNvPr>
          <p:cNvSpPr txBox="1"/>
          <p:nvPr/>
        </p:nvSpPr>
        <p:spPr>
          <a:xfrm>
            <a:off x="152400" y="3543300"/>
            <a:ext cx="3600000" cy="2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600" b="1" dirty="0">
                <a:solidFill>
                  <a:srgbClr val="4CC0D9"/>
                </a:solidFill>
                <a:latin typeface="Roboto Bold"/>
                <a:ea typeface="Roboto Bold"/>
                <a:cs typeface="Roboto Bold"/>
                <a:sym typeface="Roboto Bold"/>
              </a:rPr>
              <a:t>$1.11B</a:t>
            </a:r>
          </a:p>
        </p:txBody>
      </p:sp>
      <p:sp>
        <p:nvSpPr>
          <p:cNvPr id="200" name="TextBox 10">
            <a:extLst>
              <a:ext uri="{FF2B5EF4-FFF2-40B4-BE49-F238E27FC236}">
                <a16:creationId xmlns:a16="http://schemas.microsoft.com/office/drawing/2014/main" id="{549FF6DE-5AAB-0B2A-78E3-B2CFD64D3037}"/>
              </a:ext>
            </a:extLst>
          </p:cNvPr>
          <p:cNvSpPr txBox="1"/>
          <p:nvPr/>
        </p:nvSpPr>
        <p:spPr>
          <a:xfrm>
            <a:off x="609600" y="4610100"/>
            <a:ext cx="3600000" cy="47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32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TOTAL REVENUE</a:t>
            </a:r>
          </a:p>
        </p:txBody>
      </p:sp>
      <p:sp>
        <p:nvSpPr>
          <p:cNvPr id="202" name="TextBox 11">
            <a:extLst>
              <a:ext uri="{FF2B5EF4-FFF2-40B4-BE49-F238E27FC236}">
                <a16:creationId xmlns:a16="http://schemas.microsoft.com/office/drawing/2014/main" id="{FF61A5DB-5959-DA01-A5FC-9A0B50FE357A}"/>
              </a:ext>
            </a:extLst>
          </p:cNvPr>
          <p:cNvSpPr txBox="1"/>
          <p:nvPr/>
        </p:nvSpPr>
        <p:spPr>
          <a:xfrm>
            <a:off x="609600" y="5140100"/>
            <a:ext cx="360000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from 600,000 analyzed bookings</a:t>
            </a: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5F17F2DB-0117-7677-6141-DE35926A3A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457" y="6143041"/>
            <a:ext cx="3339408" cy="3859162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D6242C10-E2B7-BCFD-E780-3E651DAF11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58" y="6085569"/>
            <a:ext cx="3364668" cy="3859162"/>
          </a:xfrm>
          <a:prstGeom prst="rect">
            <a:avLst/>
          </a:prstGeom>
        </p:spPr>
      </p:pic>
      <p:sp>
        <p:nvSpPr>
          <p:cNvPr id="210" name="Rectangle 209">
            <a:extLst>
              <a:ext uri="{FF2B5EF4-FFF2-40B4-BE49-F238E27FC236}">
                <a16:creationId xmlns:a16="http://schemas.microsoft.com/office/drawing/2014/main" id="{9353E2B2-037E-33FB-F821-9E38B84E388D}"/>
              </a:ext>
            </a:extLst>
          </p:cNvPr>
          <p:cNvSpPr/>
          <p:nvPr/>
        </p:nvSpPr>
        <p:spPr>
          <a:xfrm>
            <a:off x="152400" y="5971900"/>
            <a:ext cx="7542276" cy="412460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428625" y="857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03504" y="1265695"/>
            <a:ext cx="5669280" cy="1984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8"/>
              </a:lnSpc>
            </a:pPr>
            <a:r>
              <a:rPr lang="en-US" sz="7618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Dashboard &amp; Conclusion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28625" y="3209925"/>
            <a:ext cx="1971675" cy="438150"/>
          </a:xfrm>
          <a:custGeom>
            <a:avLst/>
            <a:gdLst/>
            <a:ahLst/>
            <a:cxnLst/>
            <a:rect l="l" t="t" r="r" b="b"/>
            <a:pathLst>
              <a:path w="1971675" h="438150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3504" y="3806952"/>
            <a:ext cx="513892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interactive Power BI dashboard turns </a:t>
            </a:r>
            <a:r>
              <a:rPr lang="en-US" sz="2266" b="1">
                <a:solidFill>
                  <a:srgbClr val="FFBD59"/>
                </a:solidFill>
                <a:latin typeface="Roboto Bold"/>
                <a:ea typeface="Roboto Bold"/>
                <a:cs typeface="Roboto Bold"/>
                <a:sym typeface="Roboto Bold"/>
              </a:rPr>
              <a:t>600,000</a:t>
            </a:r>
            <a:r>
              <a:rPr lang="en-US" sz="22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raw bookings into real-time insights that drive smarter decisions.</a:t>
            </a:r>
          </a:p>
        </p:txBody>
      </p:sp>
      <p:sp>
        <p:nvSpPr>
          <p:cNvPr id="7" name="Freeform 7"/>
          <p:cNvSpPr/>
          <p:nvPr/>
        </p:nvSpPr>
        <p:spPr>
          <a:xfrm>
            <a:off x="428625" y="5143500"/>
            <a:ext cx="3057525" cy="647700"/>
          </a:xfrm>
          <a:custGeom>
            <a:avLst/>
            <a:gdLst/>
            <a:ahLst/>
            <a:cxnLst/>
            <a:rect l="l" t="t" r="r" b="b"/>
            <a:pathLst>
              <a:path w="3057525" h="647700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86384" y="5351526"/>
            <a:ext cx="237744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001531"/>
                </a:solidFill>
                <a:latin typeface="Roboto Bold"/>
                <a:ea typeface="Roboto Bold"/>
                <a:cs typeface="Roboto Bold"/>
                <a:sym typeface="Roboto Bold"/>
              </a:rPr>
              <a:t>DASHBOARD PAGES</a:t>
            </a:r>
          </a:p>
        </p:txBody>
      </p:sp>
      <p:sp>
        <p:nvSpPr>
          <p:cNvPr id="9" name="Freeform 9"/>
          <p:cNvSpPr/>
          <p:nvPr/>
        </p:nvSpPr>
        <p:spPr>
          <a:xfrm>
            <a:off x="152400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609850" y="57816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13385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876925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419088" y="5961697"/>
            <a:ext cx="11704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Cancellation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229600" y="5952172"/>
            <a:ext cx="117043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3550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49808" y="6711192"/>
            <a:ext cx="786384" cy="48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BOOKING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3776" y="7482074"/>
            <a:ext cx="1225296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600,000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7984" y="6711192"/>
            <a:ext cx="786384" cy="48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REVENUE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75104" y="7482074"/>
            <a:ext cx="106070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$120M</a:t>
            </a:r>
          </a:p>
        </p:txBody>
      </p:sp>
      <p:sp>
        <p:nvSpPr>
          <p:cNvPr id="21" name="Freeform 21"/>
          <p:cNvSpPr/>
          <p:nvPr/>
        </p:nvSpPr>
        <p:spPr>
          <a:xfrm>
            <a:off x="3048000" y="6638925"/>
            <a:ext cx="219075" cy="1504950"/>
          </a:xfrm>
          <a:custGeom>
            <a:avLst/>
            <a:gdLst/>
            <a:ahLst/>
            <a:cxnLst/>
            <a:rect l="l" t="t" r="r" b="b"/>
            <a:pathLst>
              <a:path w="219075" h="1504950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767328" y="6791515"/>
            <a:ext cx="1005840" cy="33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sz="98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CANCELLATIONS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47872" y="7482074"/>
            <a:ext cx="106070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85,000</a:t>
            </a:r>
          </a:p>
        </p:txBody>
      </p:sp>
      <p:sp>
        <p:nvSpPr>
          <p:cNvPr id="24" name="Freeform 24"/>
          <p:cNvSpPr/>
          <p:nvPr/>
        </p:nvSpPr>
        <p:spPr>
          <a:xfrm>
            <a:off x="4781550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102352" y="6719817"/>
            <a:ext cx="1243584" cy="47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3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CANCELLATION RATE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5232" y="7482074"/>
            <a:ext cx="932688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14.2%</a:t>
            </a:r>
          </a:p>
        </p:txBody>
      </p:sp>
      <p:sp>
        <p:nvSpPr>
          <p:cNvPr id="27" name="Freeform 27"/>
          <p:cNvSpPr/>
          <p:nvPr/>
        </p:nvSpPr>
        <p:spPr>
          <a:xfrm>
            <a:off x="6305550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656832" y="6711192"/>
            <a:ext cx="1389888" cy="48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BOOKING VALUE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6016" y="7482074"/>
            <a:ext cx="78638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$200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48625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485632" y="6674893"/>
            <a:ext cx="877824" cy="55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STAY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31936" y="7482074"/>
            <a:ext cx="51206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2.8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3504" y="8467428"/>
            <a:ext cx="7589520" cy="99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Clean, validated data enriched with time, geography, and popularity features powers customer segmentation and a live dashboard — transforming 600,000 raw bookings into </a:t>
            </a:r>
            <a:r>
              <a:rPr lang="en-US" sz="1911" b="1">
                <a:solidFill>
                  <a:srgbClr val="FFBD59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business insights.</a:t>
            </a:r>
          </a:p>
        </p:txBody>
      </p:sp>
      <p:sp>
        <p:nvSpPr>
          <p:cNvPr id="35" name="Freeform 35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786384" y="5952172"/>
            <a:ext cx="47548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KPIs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84832" y="5937885"/>
            <a:ext cx="4754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83280" y="5942647"/>
            <a:ext cx="64008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91456" y="5947410"/>
            <a:ext cx="9326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Payment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CFB8143-9673-8B13-30E3-2C64C745E39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635" y="857250"/>
            <a:ext cx="2324065" cy="302183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32F513C-D1C5-A242-C4A5-2DCA44A7BC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99" y="7044359"/>
            <a:ext cx="5472266" cy="219903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555D12E-2CB5-0EAB-20E8-7204CD66FD4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230" y="4162659"/>
            <a:ext cx="5477760" cy="246057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281EACD-D575-0F33-FCA1-058D7204120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2207" y="5296797"/>
            <a:ext cx="2324065" cy="346721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073D5C6-0086-9FF4-E9F7-721CA194FB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99" y="1265695"/>
            <a:ext cx="5418236" cy="238237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BE65663-C539-8972-CF00-97B8AB4F48BC}"/>
              </a:ext>
            </a:extLst>
          </p:cNvPr>
          <p:cNvSpPr/>
          <p:nvPr/>
        </p:nvSpPr>
        <p:spPr>
          <a:xfrm>
            <a:off x="9658800" y="419100"/>
            <a:ext cx="8197472" cy="882429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7D31-4AC7-FE48-D40E-C3BC6B99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3ED686-F572-6AE3-1330-0F69C6C248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BE8B30A-DD65-EBB1-13FD-5118F14B18E0}"/>
              </a:ext>
            </a:extLst>
          </p:cNvPr>
          <p:cNvSpPr/>
          <p:nvPr/>
        </p:nvSpPr>
        <p:spPr>
          <a:xfrm>
            <a:off x="0" y="0"/>
            <a:ext cx="10239375" cy="10287000"/>
          </a:xfrm>
          <a:custGeom>
            <a:avLst/>
            <a:gdLst/>
            <a:ahLst/>
            <a:cxnLst/>
            <a:rect l="l" t="t" r="r" b="b"/>
            <a:pathLst>
              <a:path w="10239375" h="10287000">
                <a:moveTo>
                  <a:pt x="0" y="0"/>
                </a:moveTo>
                <a:lnTo>
                  <a:pt x="10239375" y="0"/>
                </a:lnTo>
                <a:lnTo>
                  <a:pt x="10239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C8F28B4-983A-44F9-FACE-470219C59837}"/>
              </a:ext>
            </a:extLst>
          </p:cNvPr>
          <p:cNvSpPr/>
          <p:nvPr/>
        </p:nvSpPr>
        <p:spPr>
          <a:xfrm>
            <a:off x="12192000" y="2143125"/>
            <a:ext cx="6096000" cy="6000750"/>
          </a:xfrm>
          <a:custGeom>
            <a:avLst/>
            <a:gdLst/>
            <a:ahLst/>
            <a:cxnLst/>
            <a:rect l="l" t="t" r="r" b="b"/>
            <a:pathLst>
              <a:path w="6096000" h="6000750">
                <a:moveTo>
                  <a:pt x="0" y="0"/>
                </a:moveTo>
                <a:lnTo>
                  <a:pt x="6096000" y="0"/>
                </a:lnTo>
                <a:lnTo>
                  <a:pt x="6096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2ECE19-6436-9D71-08B0-378117239C6A}"/>
              </a:ext>
            </a:extLst>
          </p:cNvPr>
          <p:cNvSpPr/>
          <p:nvPr/>
        </p:nvSpPr>
        <p:spPr>
          <a:xfrm>
            <a:off x="9144000" y="5781675"/>
            <a:ext cx="3486150" cy="2362200"/>
          </a:xfrm>
          <a:custGeom>
            <a:avLst/>
            <a:gdLst/>
            <a:ahLst/>
            <a:cxnLst/>
            <a:rect l="l" t="t" r="r" b="b"/>
            <a:pathLst>
              <a:path w="3486150" h="236220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CA369E1-8BE3-EB8C-D33B-F144FF83F2D4}"/>
              </a:ext>
            </a:extLst>
          </p:cNvPr>
          <p:cNvSpPr/>
          <p:nvPr/>
        </p:nvSpPr>
        <p:spPr>
          <a:xfrm>
            <a:off x="12401550" y="7286625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4A383996-21E0-685A-ED87-B72D8A2153C6}"/>
              </a:ext>
            </a:extLst>
          </p:cNvPr>
          <p:cNvSpPr/>
          <p:nvPr/>
        </p:nvSpPr>
        <p:spPr>
          <a:xfrm>
            <a:off x="1597678" y="3546522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231EE9EF-0D09-0D24-A371-57A0CBDA0551}"/>
              </a:ext>
            </a:extLst>
          </p:cNvPr>
          <p:cNvSpPr/>
          <p:nvPr/>
        </p:nvSpPr>
        <p:spPr>
          <a:xfrm>
            <a:off x="3257550" y="8782050"/>
            <a:ext cx="228600" cy="219075"/>
          </a:xfrm>
          <a:custGeom>
            <a:avLst/>
            <a:gdLst/>
            <a:ahLst/>
            <a:cxnLst/>
            <a:rect l="l" t="t" r="r" b="b"/>
            <a:pathLst>
              <a:path w="228600" h="219075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DE4E9D89-D8AF-D123-50DE-F6ED5D0D2E78}"/>
              </a:ext>
            </a:extLst>
          </p:cNvPr>
          <p:cNvSpPr txBox="1"/>
          <p:nvPr/>
        </p:nvSpPr>
        <p:spPr>
          <a:xfrm>
            <a:off x="1371600" y="4229100"/>
            <a:ext cx="3886199" cy="145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8"/>
              </a:lnSpc>
            </a:pPr>
            <a:r>
              <a:rPr lang="en-US" sz="14800" b="1" dirty="0">
                <a:solidFill>
                  <a:schemeClr val="bg1"/>
                </a:solidFill>
                <a:latin typeface="Palace Script MT" panose="030303020206070C0B05" pitchFamily="66" charset="0"/>
                <a:ea typeface="Roboto Bold"/>
                <a:cs typeface="Roboto Bold"/>
                <a:sym typeface="Roboto Bold"/>
              </a:rPr>
              <a:t>Thanks</a:t>
            </a:r>
          </a:p>
        </p:txBody>
      </p:sp>
      <p:sp>
        <p:nvSpPr>
          <p:cNvPr id="36" name="Freeform 4">
            <a:extLst>
              <a:ext uri="{FF2B5EF4-FFF2-40B4-BE49-F238E27FC236}">
                <a16:creationId xmlns:a16="http://schemas.microsoft.com/office/drawing/2014/main" id="{6DFCF92F-F13A-B035-0D1D-D0968C5455E1}"/>
              </a:ext>
            </a:extLst>
          </p:cNvPr>
          <p:cNvSpPr/>
          <p:nvPr/>
        </p:nvSpPr>
        <p:spPr>
          <a:xfrm>
            <a:off x="4038600" y="5461468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2B95D67-3786-3316-801E-C811CC4C16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-114300"/>
            <a:ext cx="3429000" cy="20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8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566</Words>
  <Application>Microsoft Office PowerPoint</Application>
  <PresentationFormat>Custom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Bold</vt:lpstr>
      <vt:lpstr>Roboto</vt:lpstr>
      <vt:lpstr>Arial</vt:lpstr>
      <vt:lpstr>Palace Script MT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Doaa Gamal</dc:creator>
  <cp:lastModifiedBy>Doaa Gamal</cp:lastModifiedBy>
  <cp:revision>6</cp:revision>
  <dcterms:created xsi:type="dcterms:W3CDTF">2006-08-16T00:00:00Z</dcterms:created>
  <dcterms:modified xsi:type="dcterms:W3CDTF">2026-09-05T06:29:59Z</dcterms:modified>
  <dc:identifier>DAHUQCXyCos</dc:identifier>
</cp:coreProperties>
</file>